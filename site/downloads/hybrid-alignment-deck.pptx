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am Sanjay Gupta. My proposed setting is India-based B2B service organisations using tool-using agents. Managers need to judge whether delegated actions fit strategy and human mandates. Available evidence may not support that judgement. I propose to design, demonstrate and evaluate a Hybrid Alignment Diagnostic for three bounded workflows. I will test its limits against existing practice. This is a proposal, with no evaluation results yet. I will start with the assessment context.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Managers delegate agent actions and should judge their strategic warrant. The uncertainty is whether available records support that judgement. I have not confirmed this problem locally. Existing alignment and governance tools provide starting points. McKinsey and Company, 2026, reports 40% of respondents from organisations above one billion US dollars in annual revenue scaling agents, previously 27%. Smaller-organisation respondents remain at 22%. I use adoption as context, not evidence that local reviews fail. I will now identify the bounded evidence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organise the literature around three questions: requirements, representation and evaluation. Baird and Maruping, 2021, grounds delegated rights and actions. NIST already links AI goals with mission. Governance alignment is therefore not a new obligation. For representation, strategic fit and conjoined agency offer useful starting points. Diab assesses maturity from management ratings. Issa and colleagues, 2026, already offer an Accountability Tracing Log and a preliminary delegation diagnostic. Its proxy measures, equal weights and hypothetical demonstrations leave field performance open. I must read the closest full texts before fixing novelty. For evaluation, FEDS separates purpose from setting. Evidence on inappropriate reliance warns me that favourable ratings are insufficient. Experimental human–AI findings are task-dependent; I cannot assume hybrid superiority. The literature tells us how alignment and governance are framed, but not whether these combined resources warrant assessment in the proposed workflows. The research gap concerns evidence rules and comparative performance. The practitioner gap concerns reaching inspectable, actionable judgements with available records. Neither is an established local failure. I connect those uncertainties to three research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start with three uncertainties, rather than three chapters. SP1 concerns unresolved evidence rules. SP2 concerns representation. SP3 concerns performance. Each has one objective and one open research question. I count deadlines from t0, the date IRB clears the instruments. For SP1, I will produce a requirements-to-evidence matrix by month two, with expert confirmation by month five. RQ1 asks what requirements and evidence rules the assessment should meet. It is exploratory. Interviews and authorised records establish requirements; nine independent experts rate item relevance and clarity separately. DP1 requires at least eight of nine favourable ratings for each dimension. For SP2, I will freeze v1 and produce traceable v2 by month five. RQ2 asks how to represent L1–L4 and both interfaces. It is a design question. Versions, source mappings and change logs support DP2: every requirement needs a feature and test, with at least 90% faithful audited mappings. For SP3, I will complete evaluation by month eight. RQ3 asks how v2 performs against current practice. It is comparative. Held-out controlled cases test precision and recall. Three workflows test added value. User tasks, usability and prioritisation responses test separate properties. These criteria can fail; none establishes enterprise-wide effectiveness. I will trace one proposed feature back to theory.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propose pragmatism with a design orientation. I judge the artefact through warranted use, inspectable evidence and comparison with alternatives. Usefulness alone cannot establish accuracy. Here is the M3 chain. Baird and Maruping, 2021, informs delegated rights. REQ3 requires comparing those rights with actions. DPr3 is my design principle: separate intended, authorised and observed states. The feature links mandate, permission and action records. DP2 tests faithful mapping; DP3 tests controlled performance. Evaluation feeds revision. Strategic fit informs goal relationships. Conjoined agency informs interfaces. Responsibility analysis informs capacity to intervene. NIST is a governance framework, not a causal theory. L1–L4 is a provisional representation, including horizontal interfaces. M1 means goal/specification mismatch. The conceptual framework explains why each feature belongs. I will show how the study tests this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follow DSRM, the design science research methodology of Peffers and colleagues, 2007. Each activity has an output. Interviews and records establish requirements; versioned construction records why the design changes. I use expert ratings, controlled tasks and field assessment as methods inside this design. FEDS, the framework for evaluation in design science, plans two cycles. Artificial, formative work tests v1 and supports revision. I freeze v2 before held-out artificial confirmation, then compare it in naturalistic work. Formative and summative describe purpose; artificial and naturalistic describe setting. Demonstration shows application once; evaluation tests pre-set criteria. A survey alone measures perceptions rather than constructing this assessment. A case study can inform contextual evaluation, but my intended contribution also requires construction. Action research suits a broader participatory intervention; that would require another protocol. PLS-SEM tests construct relationships rather than the properties of this artefact. I will make the acceptance and failure rules explicit.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register these local criteria before Cycle 1. They are proposed acceptance decisions, not universal standards. If the specified evidence reaches a criterion, then that property is met. A failed property remains unmet; a compromised test may be inconclusive. DP1 requires eight of nine experts to rate each item relevant and clear, using separate ratings. Agreement supports content, not diagnostic accuracy. DP2 requires a feature and test for every requirement, with at least 90% faithful audited mappings. DP3 requires at least 80% controlled precision and recall on the held-out set. Precision asks what share of asserted findings is warranted. Recall asks what share of reference issues is found. I must define counting units and report raw counts. A zero denominator is undefined. These results cannot become field sensitivity. DP4 requires additional warranted findings in two of three workflows. Both methods receive the same evidence and time. Existing review includes strategy, governance and available telemetry. Duplicates and unsupported flags do not count as added value. No qualifying gain in a valid comparison means failure. DP5 sets a System Usability Scale score of at least seventy. DP6 requires at least 80% to rate prioritisation four or five. I report both separately from accuracy, with uncertainty. These tests depend on a bounded, permissioned study.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choose three tool-using workflows in one or two India-based B2B service organisations. I vary discretion, consequences, vendor dependence and hand-offs. At least one workflow stays outside v1 construction. I recruit people with direct workflow responsibility, independent experts and a separate reference team. Their roles and counts are proposed; commitments and budget remain open. All participant contact and collection follow IRB clearance and organisational permission. Individual consent and record-use permission are separate. My scope excludes prevalence, legal certification and private model reasoning. Small groups limit transfer; I report contextual evidence. Withheld records remain unknown. Failed access requires reviewed scope change, not a synthetic field substitute. I will illustrate one permissioned assessment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use an invented service workflow, not study data. The enterprise wants reliable service under approved commercial rules. The unit wants timely resolution. The human mandate requires approval for exceptions. The agent is instructed to resolve service requests. I give the existing review and the diagnostic the same mandate, instruction, permission, action and approval records. I do not hide evidence from the baseline or assume it misses a problem. The leader starts by comparing the action with the documented authority. If records show an authorised trade-off, there is no mismatch on that criterion. If approval evidence is missing, the state is unknown. The leader requests that evidence rather than scoring a failure. If sufficient records establish action outside authority, the leader records a warranted M3 finding and escalates it. The rule is a threshold of evidence, not an aggregate alignment score. I preserve contradictory interpretations and record the source version. I also apply M4: who can monitor and remedy the outcome? A named owner without that capacity is insufficient. The existing review may reach exactly the same decision. Only later comparison can establish added value, and it may establish none. I will close with the proposed contributions and panel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propose two contributions. Practice receives an assessment instrument, evidence register and interpretation guide for bounded workflows. Scholarship receives conditional design knowledge about preserving intent, evidence uncertainty and effective responsibility. Failed criteria and a sufficient existing baseline are reportable findings. I have no evaluation results yet. Access, independence, closest prior art and threshold justification remain open. Another setting would require its own requirements and comparison. I welcome feedback on two decisions. Is this bounded comparative DSR scope appropriate? Which evidence and error-cost justification would make the proposed thresholds defensible?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15600" cy="457200"/>
          </a:xfrm>
          <a:prstGeom prst="rect">
            <a:avLst/>
          </a:prstGeom>
          <a:noFill/>
        </p:spPr>
        <p:txBody>
          <a:bodyPr wrap="square">
            <a:spAutoFit/>
          </a:bodyPr>
          <a:lstStyle/>
          <a:p>
            <a:pPr algn="l">
              <a:spcAft>
                <a:spcPts val="600"/>
              </a:spcAft>
            </a:pPr>
            <a:r>
              <a:rPr sz="1400" b="1">
                <a:solidFill>
                  <a:srgbClr val="A66A16"/>
                </a:solidFill>
                <a:latin typeface="Arial"/>
              </a:rPr>
              <a:t>Immersion 1 · Topic presentation · Design science research</a:t>
            </a:r>
          </a:p>
        </p:txBody>
      </p:sp>
      <p:sp>
        <p:nvSpPr>
          <p:cNvPr id="5" name="TextBox 4"/>
          <p:cNvSpPr txBox="1"/>
          <p:nvPr/>
        </p:nvSpPr>
        <p:spPr>
          <a:xfrm>
            <a:off x="822960" y="1920240"/>
            <a:ext cx="10607040" cy="2011680"/>
          </a:xfrm>
          <a:prstGeom prst="rect">
            <a:avLst/>
          </a:prstGeom>
          <a:noFill/>
        </p:spPr>
        <p:txBody>
          <a:bodyPr wrap="square">
            <a:spAutoFit/>
          </a:bodyPr>
          <a:lstStyle/>
          <a:p>
            <a:pPr algn="l">
              <a:spcAft>
                <a:spcPts val="600"/>
              </a:spcAft>
            </a:pPr>
            <a:r>
              <a:rPr sz="3600" b="1">
                <a:solidFill>
                  <a:srgbClr val="162A2E"/>
                </a:solidFill>
                <a:latin typeface="Arial"/>
              </a:rPr>
              <a:t>Designing a Hybrid Alignment Diagnostic</a:t>
            </a:r>
          </a:p>
        </p:txBody>
      </p:sp>
      <p:sp>
        <p:nvSpPr>
          <p:cNvPr id="6" name="TextBox 5"/>
          <p:cNvSpPr txBox="1"/>
          <p:nvPr/>
        </p:nvSpPr>
        <p:spPr>
          <a:xfrm>
            <a:off x="822960" y="4023360"/>
            <a:ext cx="10515600" cy="1097280"/>
          </a:xfrm>
          <a:prstGeom prst="rect">
            <a:avLst/>
          </a:prstGeom>
          <a:noFill/>
        </p:spPr>
        <p:txBody>
          <a:bodyPr wrap="square">
            <a:spAutoFit/>
          </a:bodyPr>
          <a:lstStyle/>
          <a:p>
            <a:pPr algn="l">
              <a:spcAft>
                <a:spcPts val="600"/>
              </a:spcAft>
            </a:pPr>
            <a:r>
              <a:rPr sz="1800" b="0">
                <a:solidFill>
                  <a:srgbClr val="5B6B6C"/>
                </a:solidFill>
                <a:latin typeface="Arial"/>
              </a:rPr>
              <a:t>A design science proposal for bounded delegated agent workflows in India-based B2B service organisations.</a:t>
            </a:r>
          </a:p>
        </p:txBody>
      </p:sp>
      <p:sp>
        <p:nvSpPr>
          <p:cNvPr id="7" name="TextBox 6"/>
          <p:cNvSpPr txBox="1"/>
          <p:nvPr/>
        </p:nvSpPr>
        <p:spPr>
          <a:xfrm>
            <a:off x="822960" y="5760720"/>
            <a:ext cx="10515600" cy="548640"/>
          </a:xfrm>
          <a:prstGeom prst="rect">
            <a:avLst/>
          </a:prstGeom>
          <a:noFill/>
        </p:spPr>
        <p:txBody>
          <a:bodyPr wrap="square">
            <a:spAutoFit/>
          </a:bodyPr>
          <a:lstStyle/>
          <a:p>
            <a:pPr algn="l">
              <a:spcAft>
                <a:spcPts val="600"/>
              </a:spcAft>
            </a:pPr>
            <a:r>
              <a:rPr sz="1200" b="0">
                <a:solidFill>
                  <a:srgbClr val="5B6B6C"/>
                </a:solidFill>
                <a:latin typeface="Arial"/>
              </a:rPr>
              <a:t>Sanjay Gupta · GGU DBA in Emerging Technologies (Generative AI) · Cohort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Background</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Existing alignment tools give delegated workflows a starting point</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2057400"/>
            <a:ext cx="10881360" cy="4572000"/>
          </a:xfrm>
          <a:prstGeom prst="rect">
            <a:avLst/>
          </a:prstGeom>
          <a:noFill/>
        </p:spPr>
        <p:txBody>
          <a:bodyPr wrap="square">
            <a:spAutoFit/>
          </a:bodyPr>
          <a:lstStyle/>
          <a:p>
            <a:pPr algn="l">
              <a:spcAft>
                <a:spcPts val="600"/>
              </a:spcAft>
            </a:pPr>
            <a:r>
              <a:rPr sz="1700" b="0">
                <a:solidFill>
                  <a:srgbClr val="162A2E"/>
                </a:solidFill>
                <a:latin typeface="Arial"/>
              </a:rPr>
              <a:t>• </a:t>
            </a:r>
            <a:r>
              <a:rPr sz="1700" b="1">
                <a:solidFill>
                  <a:srgbClr val="162A2E"/>
                </a:solidFill>
                <a:latin typeface="Arial"/>
              </a:rPr>
              <a:t>Problem:</a:t>
            </a:r>
            <a:r>
              <a:rPr sz="1700" b="0">
                <a:solidFill>
                  <a:srgbClr val="162A2E"/>
                </a:solidFill>
                <a:latin typeface="Arial"/>
              </a:rPr>
              <a:t> Managers delegate agent actions; they should verify strategic warrant, but whether records support judgement remains unknown.</a:t>
            </a:r>
          </a:p>
          <a:p>
            <a:pPr algn="l">
              <a:spcAft>
                <a:spcPts val="600"/>
              </a:spcAft>
            </a:pPr>
            <a:r>
              <a:rPr sz="1700" b="0">
                <a:solidFill>
                  <a:srgbClr val="162A2E"/>
                </a:solidFill>
                <a:latin typeface="Arial"/>
              </a:rPr>
              <a:t>• Strategy maps, OKRs, alignment maturity and NIST provide existing assessment resources.</a:t>
            </a:r>
          </a:p>
          <a:p>
            <a:pPr algn="l">
              <a:spcAft>
                <a:spcPts val="600"/>
              </a:spcAft>
            </a:pPr>
            <a:r>
              <a:rPr sz="1700" b="0">
                <a:solidFill>
                  <a:srgbClr val="162A2E"/>
                </a:solidFill>
                <a:latin typeface="Arial"/>
              </a:rPr>
              <a:t>• McKinsey 2026 survey: </a:t>
            </a:r>
            <a:r>
              <a:rPr sz="1700" b="1">
                <a:solidFill>
                  <a:srgbClr val="162A2E"/>
                </a:solidFill>
                <a:latin typeface="Arial"/>
              </a:rPr>
              <a:t>40%</a:t>
            </a:r>
            <a:r>
              <a:rPr sz="1700" b="0">
                <a:solidFill>
                  <a:srgbClr val="162A2E"/>
                </a:solidFill>
                <a:latin typeface="Arial"/>
              </a:rPr>
              <a:t> of respondents from &gt;US$1bn organisations scale agents; previously </a:t>
            </a:r>
            <a:r>
              <a:rPr sz="1700" b="1">
                <a:solidFill>
                  <a:srgbClr val="162A2E"/>
                </a:solidFill>
                <a:latin typeface="Arial"/>
              </a:rPr>
              <a:t>27%</a:t>
            </a:r>
            <a:r>
              <a:rPr sz="1700" b="0">
                <a:solidFill>
                  <a:srgbClr val="162A2E"/>
                </a:solidFill>
                <a:latin typeface="Arial"/>
              </a:rPr>
              <a:t>.</a:t>
            </a:r>
          </a:p>
          <a:p>
            <a:pPr algn="l">
              <a:spcAft>
                <a:spcPts val="600"/>
              </a:spcAft>
            </a:pPr>
            <a:r>
              <a:rPr sz="1700" b="0">
                <a:solidFill>
                  <a:srgbClr val="162A2E"/>
                </a:solidFill>
                <a:latin typeface="Arial"/>
              </a:rPr>
              <a:t>• Smaller-organisation respondents: </a:t>
            </a:r>
            <a:r>
              <a:rPr sz="1700" b="1">
                <a:solidFill>
                  <a:srgbClr val="162A2E"/>
                </a:solidFill>
                <a:latin typeface="Arial"/>
              </a:rPr>
              <a:t>22%</a:t>
            </a:r>
            <a:r>
              <a:rPr sz="1700" b="0">
                <a:solidFill>
                  <a:srgbClr val="162A2E"/>
                </a:solidFill>
                <a:latin typeface="Arial"/>
              </a:rPr>
              <a:t>, unchanged; adoption is context, not local misalignment evidence.</a:t>
            </a:r>
          </a:p>
        </p:txBody>
      </p:sp>
      <p:sp>
        <p:nvSpPr>
          <p:cNvPr id="8" name="TextBox 7"/>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McKinsey &amp; Company, 2026: survey, 1,719 respondents, May–June 2026; Tabassi, 2023.</a:t>
            </a:r>
          </a:p>
        </p:txBody>
      </p:sp>
      <p:sp>
        <p:nvSpPr>
          <p:cNvPr id="9" name="TextBox 8"/>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Preliminary literature and dual gap</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The gap is warranted assessment against serious existing alternatives</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RQ1 · Requirements</a:t>
            </a:r>
          </a:p>
        </p:txBody>
      </p:sp>
      <p:sp>
        <p:nvSpPr>
          <p:cNvPr id="9" name="TextBox 8"/>
          <p:cNvSpPr txBox="1"/>
          <p:nvPr/>
        </p:nvSpPr>
        <p:spPr>
          <a:xfrm>
            <a:off x="64008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Delegation supports evidence rules (Baird &amp; Maruping, 2021).</a:t>
            </a:r>
          </a:p>
          <a:p>
            <a:pPr algn="l">
              <a:spcAft>
                <a:spcPts val="600"/>
              </a:spcAft>
            </a:pPr>
            <a:r>
              <a:rPr sz="1500" b="0">
                <a:solidFill>
                  <a:srgbClr val="162A2E"/>
                </a:solidFill>
                <a:latin typeface="Arial"/>
              </a:rPr>
              <a:t>• Governance already includes alignment (Mäntymäki et al., 2022).</a:t>
            </a:r>
          </a:p>
          <a:p>
            <a:pPr algn="l">
              <a:spcAft>
                <a:spcPts val="600"/>
              </a:spcAft>
            </a:pPr>
            <a:r>
              <a:rPr sz="1500" b="0">
                <a:solidFill>
                  <a:srgbClr val="162A2E"/>
                </a:solidFill>
                <a:latin typeface="Arial"/>
              </a:rPr>
              <a:t>• Research gap: warranted rules and local comparative performance remain unresolved.</a:t>
            </a:r>
          </a:p>
        </p:txBody>
      </p:sp>
      <p:sp>
        <p:nvSpPr>
          <p:cNvPr id="10" name="Rectangle 9"/>
          <p:cNvSpPr/>
          <p:nvPr/>
        </p:nvSpPr>
        <p:spPr>
          <a:xfrm>
            <a:off x="435864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64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RQ2 · Representation</a:t>
            </a:r>
          </a:p>
        </p:txBody>
      </p:sp>
      <p:sp>
        <p:nvSpPr>
          <p:cNvPr id="12" name="TextBox 11"/>
          <p:cNvSpPr txBox="1"/>
          <p:nvPr/>
        </p:nvSpPr>
        <p:spPr>
          <a:xfrm>
            <a:off x="435864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Strategic fit informs relationships (Henderson &amp; Venkatraman, 1993/1999).</a:t>
            </a:r>
          </a:p>
          <a:p>
            <a:pPr algn="l">
              <a:spcAft>
                <a:spcPts val="600"/>
              </a:spcAft>
            </a:pPr>
            <a:r>
              <a:rPr sz="1500" b="0">
                <a:solidFill>
                  <a:srgbClr val="162A2E"/>
                </a:solidFill>
                <a:latin typeface="Arial"/>
              </a:rPr>
              <a:t>• Existing diagnostics are rivals (Diab, 2021; Issa et al., 2026).</a:t>
            </a:r>
          </a:p>
          <a:p>
            <a:pPr algn="l">
              <a:spcAft>
                <a:spcPts val="600"/>
              </a:spcAft>
            </a:pPr>
            <a:r>
              <a:rPr sz="1500" b="0">
                <a:solidFill>
                  <a:srgbClr val="162A2E"/>
                </a:solidFill>
                <a:latin typeface="Arial"/>
              </a:rPr>
              <a:t>• Practitioner gap: actionable judgements from available records remain unconfirmed.</a:t>
            </a:r>
          </a:p>
        </p:txBody>
      </p:sp>
      <p:sp>
        <p:nvSpPr>
          <p:cNvPr id="13" name="Rectangle 12"/>
          <p:cNvSpPr/>
          <p:nvPr/>
        </p:nvSpPr>
        <p:spPr>
          <a:xfrm>
            <a:off x="807720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RQ3 · Evaluation</a:t>
            </a:r>
          </a:p>
        </p:txBody>
      </p:sp>
      <p:sp>
        <p:nvSpPr>
          <p:cNvPr id="15" name="TextBox 14"/>
          <p:cNvSpPr txBox="1"/>
          <p:nvPr/>
        </p:nvSpPr>
        <p:spPr>
          <a:xfrm>
            <a:off x="807720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FEDS separates evaluation purposes/settings (Venable et al., 2016).</a:t>
            </a:r>
          </a:p>
          <a:p>
            <a:pPr algn="l">
              <a:spcAft>
                <a:spcPts val="600"/>
              </a:spcAft>
            </a:pPr>
            <a:r>
              <a:rPr sz="1500" b="0">
                <a:solidFill>
                  <a:srgbClr val="162A2E"/>
                </a:solidFill>
                <a:latin typeface="Arial"/>
              </a:rPr>
              <a:t>• Behaviour matters beyond ratings (Buçinca et al., 2021).</a:t>
            </a:r>
          </a:p>
          <a:p>
            <a:pPr algn="l">
              <a:spcAft>
                <a:spcPts val="600"/>
              </a:spcAft>
            </a:pPr>
            <a:r>
              <a:rPr sz="1500" b="0">
                <a:solidFill>
                  <a:srgbClr val="162A2E"/>
                </a:solidFill>
                <a:latin typeface="Arial"/>
              </a:rPr>
              <a:t>• Hybrid performance is task-dependent (Vaccaro et al., 2024).</a:t>
            </a:r>
          </a:p>
        </p:txBody>
      </p:sp>
      <p:sp>
        <p:nvSpPr>
          <p:cNvPr id="16" name="TextBox 15"/>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Tabassi, 2023; Murray et al., 2021; Alfaify &amp; Almarzooq, 2025. Close full-text review remains open.</a:t>
            </a:r>
          </a:p>
        </p:txBody>
      </p:sp>
      <p:sp>
        <p:nvSpPr>
          <p:cNvPr id="17" name="TextBox 16"/>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SP → RO → RQ → DP → data → test</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Three sub-problems, three questions, one complete research chain</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640080" y="2057400"/>
          <a:ext cx="10881359" cy="1828800"/>
        </p:xfrm>
        <a:graphic>
          <a:graphicData uri="http://schemas.openxmlformats.org/drawingml/2006/table">
            <a:tbl>
              <a:tblPr firstRow="1" bandRow="1">
                <a:tableStyleId>{5C22544A-7EE6-4342-B048-85BDC9FD1C3A}</a:tableStyleId>
              </a:tblPr>
              <a:tblGrid>
                <a:gridCol w="1417320"/>
                <a:gridCol w="1645920"/>
                <a:gridCol w="1874519"/>
                <a:gridCol w="1645920"/>
                <a:gridCol w="2011680"/>
                <a:gridCol w="2286000"/>
              </a:tblGrid>
              <a:tr h="457200">
                <a:tc>
                  <a:txBody>
                    <a:bodyPr/>
                    <a:lstStyle/>
                    <a:p>
                      <a:r>
                        <a:rPr sz="1400" b="1">
                          <a:solidFill>
                            <a:srgbClr val="162A2E"/>
                          </a:solidFill>
                          <a:latin typeface="Arial"/>
                        </a:rPr>
                        <a:t>Sub-problem</a:t>
                      </a:r>
                    </a:p>
                  </a:txBody>
                  <a:tcPr>
                    <a:solidFill>
                      <a:srgbClr val="E4EAE8"/>
                    </a:solidFill>
                  </a:tcPr>
                </a:tc>
                <a:tc>
                  <a:txBody>
                    <a:bodyPr/>
                    <a:lstStyle/>
                    <a:p>
                      <a:r>
                        <a:rPr sz="1400" b="1">
                          <a:solidFill>
                            <a:srgbClr val="162A2E"/>
                          </a:solidFill>
                          <a:latin typeface="Arial"/>
                        </a:rPr>
                        <a:t>Objective</a:t>
                      </a:r>
                    </a:p>
                  </a:txBody>
                  <a:tcPr>
                    <a:solidFill>
                      <a:srgbClr val="E4EAE8"/>
                    </a:solidFill>
                  </a:tcPr>
                </a:tc>
                <a:tc>
                  <a:txBody>
                    <a:bodyPr/>
                    <a:lstStyle/>
                    <a:p>
                      <a:r>
                        <a:rPr sz="1400" b="1">
                          <a:solidFill>
                            <a:srgbClr val="162A2E"/>
                          </a:solidFill>
                          <a:latin typeface="Arial"/>
                        </a:rPr>
                        <a:t>RQ / type</a:t>
                      </a:r>
                    </a:p>
                  </a:txBody>
                  <a:tcPr>
                    <a:solidFill>
                      <a:srgbClr val="E4EAE8"/>
                    </a:solidFill>
                  </a:tcPr>
                </a:tc>
                <a:tc>
                  <a:txBody>
                    <a:bodyPr/>
                    <a:lstStyle/>
                    <a:p>
                      <a:r>
                        <a:rPr sz="1400" b="1">
                          <a:solidFill>
                            <a:srgbClr val="162A2E"/>
                          </a:solidFill>
                          <a:latin typeface="Arial"/>
                        </a:rPr>
                        <a:t>Proposition</a:t>
                      </a:r>
                    </a:p>
                  </a:txBody>
                  <a:tcPr>
                    <a:solidFill>
                      <a:srgbClr val="E4EAE8"/>
                    </a:solidFill>
                  </a:tcPr>
                </a:tc>
                <a:tc>
                  <a:txBody>
                    <a:bodyPr/>
                    <a:lstStyle/>
                    <a:p>
                      <a:r>
                        <a:rPr sz="1400" b="1">
                          <a:solidFill>
                            <a:srgbClr val="162A2E"/>
                          </a:solidFill>
                          <a:latin typeface="Arial"/>
                        </a:rPr>
                        <a:t>Data</a:t>
                      </a:r>
                    </a:p>
                  </a:txBody>
                  <a:tcPr>
                    <a:solidFill>
                      <a:srgbClr val="E4EAE8"/>
                    </a:solidFill>
                  </a:tcPr>
                </a:tc>
                <a:tc>
                  <a:txBody>
                    <a:bodyPr/>
                    <a:lstStyle/>
                    <a:p>
                      <a:r>
                        <a:rPr sz="1400" b="1">
                          <a:solidFill>
                            <a:srgbClr val="162A2E"/>
                          </a:solidFill>
                          <a:latin typeface="Arial"/>
                        </a:rPr>
                        <a:t>Test</a:t>
                      </a:r>
                    </a:p>
                  </a:txBody>
                  <a:tcPr>
                    <a:solidFill>
                      <a:srgbClr val="E4EAE8"/>
                    </a:solidFill>
                  </a:tcPr>
                </a:tc>
              </a:tr>
              <a:tr h="457200">
                <a:tc>
                  <a:txBody>
                    <a:bodyPr/>
                    <a:lstStyle/>
                    <a:p>
                      <a:r>
                        <a:rPr sz="1400" b="0">
                          <a:solidFill>
                            <a:srgbClr val="162A2E"/>
                          </a:solidFill>
                          <a:latin typeface="Arial"/>
                        </a:rPr>
                        <a:t>SP1: evidence rules</a:t>
                      </a:r>
                    </a:p>
                  </a:txBody>
                  <a:tcPr>
                    <a:solidFill>
                      <a:srgbClr val="FFFFFF"/>
                    </a:solidFill>
                  </a:tcPr>
                </a:tc>
                <a:tc>
                  <a:txBody>
                    <a:bodyPr/>
                    <a:lstStyle/>
                    <a:p>
                      <a:r>
                        <a:rPr sz="1400" b="0">
                          <a:solidFill>
                            <a:srgbClr val="162A2E"/>
                          </a:solidFill>
                          <a:latin typeface="Arial"/>
                        </a:rPr>
                        <a:t>RO1: matrix +2m; expert check +5m</a:t>
                      </a:r>
                    </a:p>
                  </a:txBody>
                  <a:tcPr>
                    <a:solidFill>
                      <a:srgbClr val="FFFFFF"/>
                    </a:solidFill>
                  </a:tcPr>
                </a:tc>
                <a:tc>
                  <a:txBody>
                    <a:bodyPr/>
                    <a:lstStyle/>
                    <a:p>
                      <a:r>
                        <a:rPr sz="1400" b="0">
                          <a:solidFill>
                            <a:srgbClr val="162A2E"/>
                          </a:solidFill>
                          <a:latin typeface="Arial"/>
                        </a:rPr>
                        <a:t>RQ1: requirements? Exploratory</a:t>
                      </a:r>
                    </a:p>
                  </a:txBody>
                  <a:tcPr>
                    <a:solidFill>
                      <a:srgbClr val="FFFFFF"/>
                    </a:solidFill>
                  </a:tcPr>
                </a:tc>
                <a:tc>
                  <a:txBody>
                    <a:bodyPr/>
                    <a:lstStyle/>
                    <a:p>
                      <a:r>
                        <a:rPr sz="1400" b="0">
                          <a:solidFill>
                            <a:srgbClr val="162A2E"/>
                          </a:solidFill>
                          <a:latin typeface="Arial"/>
                        </a:rPr>
                        <a:t>DP1: relevance; clarity</a:t>
                      </a:r>
                    </a:p>
                  </a:txBody>
                  <a:tcPr>
                    <a:solidFill>
                      <a:srgbClr val="FFFFFF"/>
                    </a:solidFill>
                  </a:tcPr>
                </a:tc>
                <a:tc>
                  <a:txBody>
                    <a:bodyPr/>
                    <a:lstStyle/>
                    <a:p>
                      <a:r>
                        <a:rPr sz="1400" b="0">
                          <a:solidFill>
                            <a:srgbClr val="162A2E"/>
                          </a:solidFill>
                          <a:latin typeface="Arial"/>
                        </a:rPr>
                        <a:t>12–16 interviews; records; 9 experts</a:t>
                      </a:r>
                    </a:p>
                  </a:txBody>
                  <a:tcPr>
                    <a:solidFill>
                      <a:srgbClr val="FFFFFF"/>
                    </a:solidFill>
                  </a:tcPr>
                </a:tc>
                <a:tc>
                  <a:txBody>
                    <a:bodyPr/>
                    <a:lstStyle/>
                    <a:p>
                      <a:r>
                        <a:rPr sz="1400" b="0">
                          <a:solidFill>
                            <a:srgbClr val="162A2E"/>
                          </a:solidFill>
                          <a:latin typeface="Arial"/>
                        </a:rPr>
                        <a:t>Matrix; ≥8/9 per item, each dimension</a:t>
                      </a:r>
                    </a:p>
                  </a:txBody>
                  <a:tcPr>
                    <a:solidFill>
                      <a:srgbClr val="FFFFFF"/>
                    </a:solidFill>
                  </a:tcPr>
                </a:tc>
              </a:tr>
              <a:tr h="457200">
                <a:tc>
                  <a:txBody>
                    <a:bodyPr/>
                    <a:lstStyle/>
                    <a:p>
                      <a:r>
                        <a:rPr sz="1400" b="0">
                          <a:solidFill>
                            <a:srgbClr val="162A2E"/>
                          </a:solidFill>
                          <a:latin typeface="Arial"/>
                        </a:rPr>
                        <a:t>SP2: representation</a:t>
                      </a:r>
                    </a:p>
                  </a:txBody>
                  <a:tcPr>
                    <a:solidFill>
                      <a:srgbClr val="FFFFFF"/>
                    </a:solidFill>
                  </a:tcPr>
                </a:tc>
                <a:tc>
                  <a:txBody>
                    <a:bodyPr/>
                    <a:lstStyle/>
                    <a:p>
                      <a:r>
                        <a:rPr sz="1400" b="0">
                          <a:solidFill>
                            <a:srgbClr val="162A2E"/>
                          </a:solidFill>
                          <a:latin typeface="Arial"/>
                        </a:rPr>
                        <a:t>RO2: v1/v2 +5m</a:t>
                      </a:r>
                    </a:p>
                  </a:txBody>
                  <a:tcPr>
                    <a:solidFill>
                      <a:srgbClr val="FFFFFF"/>
                    </a:solidFill>
                  </a:tcPr>
                </a:tc>
                <a:tc>
                  <a:txBody>
                    <a:bodyPr/>
                    <a:lstStyle/>
                    <a:p>
                      <a:r>
                        <a:rPr sz="1400" b="0">
                          <a:solidFill>
                            <a:srgbClr val="162A2E"/>
                          </a:solidFill>
                          <a:latin typeface="Arial"/>
                        </a:rPr>
                        <a:t>RQ2: L1–L4/interfaces? Design</a:t>
                      </a:r>
                    </a:p>
                  </a:txBody>
                  <a:tcPr>
                    <a:solidFill>
                      <a:srgbClr val="FFFFFF"/>
                    </a:solidFill>
                  </a:tcPr>
                </a:tc>
                <a:tc>
                  <a:txBody>
                    <a:bodyPr/>
                    <a:lstStyle/>
                    <a:p>
                      <a:r>
                        <a:rPr sz="1400" b="0">
                          <a:solidFill>
                            <a:srgbClr val="162A2E"/>
                          </a:solidFill>
                          <a:latin typeface="Arial"/>
                        </a:rPr>
                        <a:t>DP2: coverage; fidelity</a:t>
                      </a:r>
                    </a:p>
                  </a:txBody>
                  <a:tcPr>
                    <a:solidFill>
                      <a:srgbClr val="FFFFFF"/>
                    </a:solidFill>
                  </a:tcPr>
                </a:tc>
                <a:tc>
                  <a:txBody>
                    <a:bodyPr/>
                    <a:lstStyle/>
                    <a:p>
                      <a:r>
                        <a:rPr sz="1400" b="0">
                          <a:solidFill>
                            <a:srgbClr val="162A2E"/>
                          </a:solidFill>
                          <a:latin typeface="Arial"/>
                        </a:rPr>
                        <a:t>Versions; links; change log</a:t>
                      </a:r>
                    </a:p>
                  </a:txBody>
                  <a:tcPr>
                    <a:solidFill>
                      <a:srgbClr val="FFFFFF"/>
                    </a:solidFill>
                  </a:tcPr>
                </a:tc>
                <a:tc>
                  <a:txBody>
                    <a:bodyPr/>
                    <a:lstStyle/>
                    <a:p>
                      <a:r>
                        <a:rPr sz="1400" b="0">
                          <a:solidFill>
                            <a:srgbClr val="162A2E"/>
                          </a:solidFill>
                          <a:latin typeface="Arial"/>
                        </a:rPr>
                        <a:t>Feature/test per requirement; ≥90% faithful</a:t>
                      </a:r>
                    </a:p>
                  </a:txBody>
                  <a:tcPr>
                    <a:solidFill>
                      <a:srgbClr val="FFFFFF"/>
                    </a:solidFill>
                  </a:tcPr>
                </a:tc>
              </a:tr>
              <a:tr h="457200">
                <a:tc>
                  <a:txBody>
                    <a:bodyPr/>
                    <a:lstStyle/>
                    <a:p>
                      <a:r>
                        <a:rPr sz="1400" b="0">
                          <a:solidFill>
                            <a:srgbClr val="162A2E"/>
                          </a:solidFill>
                          <a:latin typeface="Arial"/>
                        </a:rPr>
                        <a:t>SP3: performance</a:t>
                      </a:r>
                    </a:p>
                  </a:txBody>
                  <a:tcPr>
                    <a:solidFill>
                      <a:srgbClr val="FFFFFF"/>
                    </a:solidFill>
                  </a:tcPr>
                </a:tc>
                <a:tc>
                  <a:txBody>
                    <a:bodyPr/>
                    <a:lstStyle/>
                    <a:p>
                      <a:r>
                        <a:rPr sz="1400" b="0">
                          <a:solidFill>
                            <a:srgbClr val="162A2E"/>
                          </a:solidFill>
                          <a:latin typeface="Arial"/>
                        </a:rPr>
                        <a:t>RO3: evaluate +8m</a:t>
                      </a:r>
                    </a:p>
                  </a:txBody>
                  <a:tcPr>
                    <a:solidFill>
                      <a:srgbClr val="FFFFFF"/>
                    </a:solidFill>
                  </a:tcPr>
                </a:tc>
                <a:tc>
                  <a:txBody>
                    <a:bodyPr/>
                    <a:lstStyle/>
                    <a:p>
                      <a:r>
                        <a:rPr sz="1400" b="0">
                          <a:solidFill>
                            <a:srgbClr val="162A2E"/>
                          </a:solidFill>
                          <a:latin typeface="Arial"/>
                        </a:rPr>
                        <a:t>RQ3: versus practice? Comparative</a:t>
                      </a:r>
                    </a:p>
                  </a:txBody>
                  <a:tcPr>
                    <a:solidFill>
                      <a:srgbClr val="FFFFFF"/>
                    </a:solidFill>
                  </a:tcPr>
                </a:tc>
                <a:tc>
                  <a:txBody>
                    <a:bodyPr/>
                    <a:lstStyle/>
                    <a:p>
                      <a:r>
                        <a:rPr sz="1400" b="0">
                          <a:solidFill>
                            <a:srgbClr val="162A2E"/>
                          </a:solidFill>
                          <a:latin typeface="Arial"/>
                        </a:rPr>
                        <a:t>DP3–6: performance; value; use</a:t>
                      </a:r>
                    </a:p>
                  </a:txBody>
                  <a:tcPr>
                    <a:solidFill>
                      <a:srgbClr val="FFFFFF"/>
                    </a:solidFill>
                  </a:tcPr>
                </a:tc>
                <a:tc>
                  <a:txBody>
                    <a:bodyPr/>
                    <a:lstStyle/>
                    <a:p>
                      <a:r>
                        <a:rPr sz="1400" b="0">
                          <a:solidFill>
                            <a:srgbClr val="162A2E"/>
                          </a:solidFill>
                          <a:latin typeface="Arial"/>
                        </a:rPr>
                        <a:t>12+12 cases; 3 workflows; 12–16 users</a:t>
                      </a:r>
                    </a:p>
                  </a:txBody>
                  <a:tcPr>
                    <a:solidFill>
                      <a:srgbClr val="FFFFFF"/>
                    </a:solidFill>
                  </a:tcPr>
                </a:tc>
                <a:tc>
                  <a:txBody>
                    <a:bodyPr/>
                    <a:lstStyle/>
                    <a:p>
                      <a:r>
                        <a:rPr sz="1400" b="0">
                          <a:solidFill>
                            <a:srgbClr val="162A2E"/>
                          </a:solidFill>
                          <a:latin typeface="Arial"/>
                        </a:rPr>
                        <a:t>Precision/recall; yield; SUS; utility</a:t>
                      </a:r>
                    </a:p>
                  </a:txBody>
                  <a:tcPr>
                    <a:solidFill>
                      <a:srgbClr val="FFFFFF"/>
                    </a:solidFill>
                  </a:tcPr>
                </a:tc>
              </a:tr>
            </a:tbl>
          </a:graphicData>
        </a:graphic>
      </p:graphicFrame>
      <p:sp>
        <p:nvSpPr>
          <p:cNvPr id="8" name="TextBox 7"/>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Proposed; t0 = IRB clearance; +m = months after t0. Thresholds: slide 7. Peffers et al., 2007.</a:t>
            </a:r>
          </a:p>
        </p:txBody>
      </p:sp>
      <p:sp>
        <p:nvSpPr>
          <p:cNvPr id="9" name="TextBox 8"/>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Research logic</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Conceptual framework: theory → requirement → feature → evaluation</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Kernel → requirement</a:t>
            </a:r>
          </a:p>
        </p:txBody>
      </p:sp>
      <p:sp>
        <p:nvSpPr>
          <p:cNvPr id="9" name="TextBox 8"/>
          <p:cNvSpPr txBox="1"/>
          <p:nvPr/>
        </p:nvSpPr>
        <p:spPr>
          <a:xfrm>
            <a:off x="64008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Pragmatism: warranted use, inspectable evidence.</a:t>
            </a:r>
          </a:p>
          <a:p>
            <a:pPr algn="l">
              <a:spcAft>
                <a:spcPts val="600"/>
              </a:spcAft>
            </a:pPr>
            <a:r>
              <a:rPr sz="1500" b="0">
                <a:solidFill>
                  <a:srgbClr val="162A2E"/>
                </a:solidFill>
                <a:latin typeface="Arial"/>
              </a:rPr>
              <a:t>• Delegation: rights/actions (Baird &amp; Maruping, 2021).</a:t>
            </a:r>
          </a:p>
          <a:p>
            <a:pPr algn="l">
              <a:spcAft>
                <a:spcPts val="600"/>
              </a:spcAft>
            </a:pPr>
            <a:r>
              <a:rPr sz="1500" b="0">
                <a:solidFill>
                  <a:srgbClr val="162A2E"/>
                </a:solidFill>
                <a:latin typeface="Arial"/>
              </a:rPr>
              <a:t>• REQ3: compare delegated rights with actual actions.</a:t>
            </a:r>
          </a:p>
        </p:txBody>
      </p:sp>
      <p:sp>
        <p:nvSpPr>
          <p:cNvPr id="10" name="Rectangle 9"/>
          <p:cNvSpPr/>
          <p:nvPr/>
        </p:nvSpPr>
        <p:spPr>
          <a:xfrm>
            <a:off x="435864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64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Principle → feature</a:t>
            </a:r>
          </a:p>
        </p:txBody>
      </p:sp>
      <p:sp>
        <p:nvSpPr>
          <p:cNvPr id="12" name="TextBox 11"/>
          <p:cNvSpPr txBox="1"/>
          <p:nvPr/>
        </p:nvSpPr>
        <p:spPr>
          <a:xfrm>
            <a:off x="435864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DPr3: separate intended, authorised and observed states.</a:t>
            </a:r>
          </a:p>
          <a:p>
            <a:pPr algn="l">
              <a:spcAft>
                <a:spcPts val="600"/>
              </a:spcAft>
            </a:pPr>
            <a:r>
              <a:rPr sz="1500" b="0">
                <a:solidFill>
                  <a:srgbClr val="162A2E"/>
                </a:solidFill>
                <a:latin typeface="Arial"/>
              </a:rPr>
              <a:t>• Feature: mandate ↔ permission ↔ action evidence.</a:t>
            </a:r>
          </a:p>
          <a:p>
            <a:pPr algn="l">
              <a:spcAft>
                <a:spcPts val="600"/>
              </a:spcAft>
            </a:pPr>
            <a:r>
              <a:rPr sz="1500" b="0">
                <a:solidFill>
                  <a:srgbClr val="162A2E"/>
                </a:solidFill>
                <a:latin typeface="Arial"/>
              </a:rPr>
              <a:t>• L1–L4: provisional representation; include horizontal interfaces.</a:t>
            </a:r>
          </a:p>
        </p:txBody>
      </p:sp>
      <p:sp>
        <p:nvSpPr>
          <p:cNvPr id="13" name="Rectangle 12"/>
          <p:cNvSpPr/>
          <p:nvPr/>
        </p:nvSpPr>
        <p:spPr>
          <a:xfrm>
            <a:off x="807720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Evaluation → revision</a:t>
            </a:r>
          </a:p>
        </p:txBody>
      </p:sp>
      <p:sp>
        <p:nvSpPr>
          <p:cNvPr id="15" name="TextBox 14"/>
          <p:cNvSpPr txBox="1"/>
          <p:nvPr/>
        </p:nvSpPr>
        <p:spPr>
          <a:xfrm>
            <a:off x="807720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DP2: faithful mappings; DP3: controlled performance.</a:t>
            </a:r>
          </a:p>
          <a:p>
            <a:pPr algn="l">
              <a:spcAft>
                <a:spcPts val="600"/>
              </a:spcAft>
            </a:pPr>
            <a:r>
              <a:rPr sz="1500" b="0">
                <a:solidFill>
                  <a:srgbClr val="162A2E"/>
                </a:solidFill>
                <a:latin typeface="Arial"/>
              </a:rPr>
              <a:t>• Failed rules → revision → retest.</a:t>
            </a:r>
          </a:p>
          <a:p>
            <a:pPr algn="l">
              <a:spcAft>
                <a:spcPts val="600"/>
              </a:spcAft>
            </a:pPr>
            <a:r>
              <a:rPr sz="1500" b="0">
                <a:solidFill>
                  <a:srgbClr val="162A2E"/>
                </a:solidFill>
                <a:latin typeface="Arial"/>
              </a:rPr>
              <a:t>• M1: goal/specification mismatch; M1–M6 remain provisional.</a:t>
            </a:r>
          </a:p>
        </p:txBody>
      </p:sp>
      <p:sp>
        <p:nvSpPr>
          <p:cNvPr id="16" name="TextBox 15"/>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Hevner et al., 2004; Henderson &amp; Venkatraman, 1993/1999; Murray et al., 2021; Tabassi, 2023.</a:t>
            </a:r>
          </a:p>
        </p:txBody>
      </p:sp>
      <p:sp>
        <p:nvSpPr>
          <p:cNvPr id="17" name="TextBox 16"/>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Design science research · DSRM + FEDS</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DSRM supplies six outputs; FEDS plans two build–evaluate cycles</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Define</a:t>
            </a:r>
          </a:p>
        </p:txBody>
      </p:sp>
      <p:sp>
        <p:nvSpPr>
          <p:cNvPr id="9" name="TextBox 8"/>
          <p:cNvSpPr txBox="1"/>
          <p:nvPr/>
        </p:nvSpPr>
        <p:spPr>
          <a:xfrm>
            <a:off x="64008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1 Identify problem → problem statement.</a:t>
            </a:r>
          </a:p>
          <a:p>
            <a:pPr algn="l">
              <a:spcAft>
                <a:spcPts val="600"/>
              </a:spcAft>
            </a:pPr>
            <a:r>
              <a:rPr sz="1500" b="0">
                <a:solidFill>
                  <a:srgbClr val="162A2E"/>
                </a:solidFill>
                <a:latin typeface="Arial"/>
              </a:rPr>
              <a:t>• 2 Define objectives → requirements matrix, t0+2 months.</a:t>
            </a:r>
          </a:p>
          <a:p>
            <a:pPr algn="l">
              <a:spcAft>
                <a:spcPts val="600"/>
              </a:spcAft>
            </a:pPr>
            <a:r>
              <a:rPr sz="1500" b="0">
                <a:solidFill>
                  <a:srgbClr val="162A2E"/>
                </a:solidFill>
                <a:latin typeface="Arial"/>
              </a:rPr>
              <a:t>• New interviews; existing strategy and authority records.</a:t>
            </a:r>
          </a:p>
        </p:txBody>
      </p:sp>
      <p:sp>
        <p:nvSpPr>
          <p:cNvPr id="10" name="Rectangle 9"/>
          <p:cNvSpPr/>
          <p:nvPr/>
        </p:nvSpPr>
        <p:spPr>
          <a:xfrm>
            <a:off x="435864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64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Construct and demonstrate</a:t>
            </a:r>
          </a:p>
        </p:txBody>
      </p:sp>
      <p:sp>
        <p:nvSpPr>
          <p:cNvPr id="12" name="TextBox 11"/>
          <p:cNvSpPr txBox="1"/>
          <p:nvPr/>
        </p:nvSpPr>
        <p:spPr>
          <a:xfrm>
            <a:off x="435864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3 Design/develop → v1, revision log, v2, t0+5 months.</a:t>
            </a:r>
          </a:p>
          <a:p>
            <a:pPr algn="l">
              <a:spcAft>
                <a:spcPts val="600"/>
              </a:spcAft>
            </a:pPr>
            <a:r>
              <a:rPr sz="1500" b="0">
                <a:solidFill>
                  <a:srgbClr val="162A2E"/>
                </a:solidFill>
                <a:latin typeface="Arial"/>
              </a:rPr>
              <a:t>• 4 Demonstrate → completed workflow assessments.</a:t>
            </a:r>
          </a:p>
          <a:p>
            <a:pPr algn="l">
              <a:spcAft>
                <a:spcPts val="600"/>
              </a:spcAft>
            </a:pPr>
            <a:r>
              <a:rPr sz="1500" b="0">
                <a:solidFill>
                  <a:srgbClr val="162A2E"/>
                </a:solidFill>
                <a:latin typeface="Arial"/>
              </a:rPr>
              <a:t>• Cycle 1: artificial/formative; expert ratings and controlled tasks.</a:t>
            </a:r>
          </a:p>
        </p:txBody>
      </p:sp>
      <p:sp>
        <p:nvSpPr>
          <p:cNvPr id="13" name="Rectangle 12"/>
          <p:cNvSpPr/>
          <p:nvPr/>
        </p:nvSpPr>
        <p:spPr>
          <a:xfrm>
            <a:off x="807720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Evaluate and communicate</a:t>
            </a:r>
          </a:p>
        </p:txBody>
      </p:sp>
      <p:sp>
        <p:nvSpPr>
          <p:cNvPr id="15" name="TextBox 14"/>
          <p:cNvSpPr txBox="1"/>
          <p:nvPr/>
        </p:nvSpPr>
        <p:spPr>
          <a:xfrm>
            <a:off x="807720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5 Evaluate → DP decisions, t0+8 months.</a:t>
            </a:r>
          </a:p>
          <a:p>
            <a:pPr algn="l">
              <a:spcAft>
                <a:spcPts val="600"/>
              </a:spcAft>
            </a:pPr>
            <a:r>
              <a:rPr sz="1500" b="0">
                <a:solidFill>
                  <a:srgbClr val="162A2E"/>
                </a:solidFill>
                <a:latin typeface="Arial"/>
              </a:rPr>
              <a:t>• 6 Communicate → dissertation and principles, t0+9 months.</a:t>
            </a:r>
          </a:p>
          <a:p>
            <a:pPr algn="l">
              <a:spcAft>
                <a:spcPts val="600"/>
              </a:spcAft>
            </a:pPr>
            <a:r>
              <a:rPr sz="1500" b="0">
                <a:solidFill>
                  <a:srgbClr val="162A2E"/>
                </a:solidFill>
                <a:latin typeface="Arial"/>
              </a:rPr>
              <a:t>• Frozen-v2 held-out confirmation; Cycle 2: naturalistic/summative matched comparison.</a:t>
            </a:r>
          </a:p>
        </p:txBody>
      </p:sp>
      <p:sp>
        <p:nvSpPr>
          <p:cNvPr id="16" name="TextBox 15"/>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Peffers et al., 2007; Venable et al., 2016. New interviews/ratings/tasks; existing authorised records.</a:t>
            </a:r>
          </a:p>
        </p:txBody>
      </p:sp>
      <p:sp>
        <p:nvSpPr>
          <p:cNvPr id="17" name="TextBox 16"/>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Pre-set decisions · no results yet</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Acceptance criteria are separate, proposed and allowed to fail</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Content and representation</a:t>
            </a:r>
          </a:p>
        </p:txBody>
      </p:sp>
      <p:sp>
        <p:nvSpPr>
          <p:cNvPr id="9" name="TextBox 8"/>
          <p:cNvSpPr txBox="1"/>
          <p:nvPr/>
        </p:nvSpPr>
        <p:spPr>
          <a:xfrm>
            <a:off x="64008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DP1: if ≥8/9 rate relevance/clarity separately → content criterion met.</a:t>
            </a:r>
          </a:p>
          <a:p>
            <a:pPr algn="l">
              <a:spcAft>
                <a:spcPts val="600"/>
              </a:spcAft>
            </a:pPr>
            <a:r>
              <a:rPr sz="1500" b="0">
                <a:solidFill>
                  <a:srgbClr val="162A2E"/>
                </a:solidFill>
                <a:latin typeface="Arial"/>
              </a:rPr>
              <a:t>• DP2: feature/test per requirement; ≥90% faithful mappings → criterion met.</a:t>
            </a:r>
          </a:p>
          <a:p>
            <a:pPr algn="l">
              <a:spcAft>
                <a:spcPts val="600"/>
              </a:spcAft>
            </a:pPr>
            <a:r>
              <a:rPr sz="1500" b="0">
                <a:solidFill>
                  <a:srgbClr val="162A2E"/>
                </a:solidFill>
                <a:latin typeface="Arial"/>
              </a:rPr>
              <a:t>• Otherwise unmet; compromised evidence → inconclusive.</a:t>
            </a:r>
          </a:p>
        </p:txBody>
      </p:sp>
      <p:sp>
        <p:nvSpPr>
          <p:cNvPr id="10" name="Rectangle 9"/>
          <p:cNvSpPr/>
          <p:nvPr/>
        </p:nvSpPr>
        <p:spPr>
          <a:xfrm>
            <a:off x="435864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64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Performance and field value</a:t>
            </a:r>
          </a:p>
        </p:txBody>
      </p:sp>
      <p:sp>
        <p:nvSpPr>
          <p:cNvPr id="12" name="TextBox 11"/>
          <p:cNvSpPr txBox="1"/>
          <p:nvPr/>
        </p:nvSpPr>
        <p:spPr>
          <a:xfrm>
            <a:off x="435864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DP3: held-out precision/recall each ≥80% → controlled criterion met.</a:t>
            </a:r>
          </a:p>
          <a:p>
            <a:pPr algn="l">
              <a:spcAft>
                <a:spcPts val="600"/>
              </a:spcAft>
            </a:pPr>
            <a:r>
              <a:rPr sz="1500" b="0">
                <a:solidFill>
                  <a:srgbClr val="162A2E"/>
                </a:solidFill>
                <a:latin typeface="Arial"/>
              </a:rPr>
              <a:t>• DP4: added warranted findings in ≥2/3 workflows → criterion met.</a:t>
            </a:r>
          </a:p>
          <a:p>
            <a:pPr algn="l">
              <a:spcAft>
                <a:spcPts val="600"/>
              </a:spcAft>
            </a:pPr>
            <a:r>
              <a:rPr sz="1500" b="0">
                <a:solidFill>
                  <a:srgbClr val="162A2E"/>
                </a:solidFill>
                <a:latin typeface="Arial"/>
              </a:rPr>
              <a:t>• Same evidence/time; controlled performance is not field sensitivity.</a:t>
            </a:r>
          </a:p>
        </p:txBody>
      </p:sp>
      <p:sp>
        <p:nvSpPr>
          <p:cNvPr id="13" name="Rectangle 12"/>
          <p:cNvSpPr/>
          <p:nvPr/>
        </p:nvSpPr>
        <p:spPr>
          <a:xfrm>
            <a:off x="807720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Usability and utility</a:t>
            </a:r>
          </a:p>
        </p:txBody>
      </p:sp>
      <p:sp>
        <p:nvSpPr>
          <p:cNvPr id="15" name="TextBox 14"/>
          <p:cNvSpPr txBox="1"/>
          <p:nvPr/>
        </p:nvSpPr>
        <p:spPr>
          <a:xfrm>
            <a:off x="807720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DP5: if SUS ≥70 → usability criterion met.</a:t>
            </a:r>
          </a:p>
          <a:p>
            <a:pPr algn="l">
              <a:spcAft>
                <a:spcPts val="600"/>
              </a:spcAft>
            </a:pPr>
            <a:r>
              <a:rPr sz="1500" b="0">
                <a:solidFill>
                  <a:srgbClr val="162A2E"/>
                </a:solidFill>
                <a:latin typeface="Arial"/>
              </a:rPr>
              <a:t>• DP6: if ≥80% rate prioritisation 4–5 → utility criterion met.</a:t>
            </a:r>
          </a:p>
          <a:p>
            <a:pPr algn="l">
              <a:spcAft>
                <a:spcPts val="600"/>
              </a:spcAft>
            </a:pPr>
            <a:r>
              <a:rPr sz="1500" b="0">
                <a:solidFill>
                  <a:srgbClr val="162A2E"/>
                </a:solidFill>
                <a:latin typeface="Arial"/>
              </a:rPr>
              <a:t>• Satisfaction cannot rescue failed performance.</a:t>
            </a:r>
          </a:p>
        </p:txBody>
      </p:sp>
      <p:sp>
        <p:nvSpPr>
          <p:cNvPr id="16" name="TextBox 15"/>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Proposed local thresholds; no results. Venable et al., 2016; Buçinca et al., 2021.</a:t>
            </a:r>
          </a:p>
        </p:txBody>
      </p:sp>
      <p:sp>
        <p:nvSpPr>
          <p:cNvPr id="17" name="TextBox 16"/>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Proposed scope · ethics · feasibility</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The workflow is bounded; access and permission remain gates</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Chosen scope</a:t>
            </a:r>
          </a:p>
        </p:txBody>
      </p:sp>
      <p:sp>
        <p:nvSpPr>
          <p:cNvPr id="9" name="TextBox 8"/>
          <p:cNvSpPr txBox="1"/>
          <p:nvPr/>
        </p:nvSpPr>
        <p:spPr>
          <a:xfrm>
            <a:off x="64008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3 workflows; 1–2 India-based B2B service sites.</a:t>
            </a:r>
          </a:p>
          <a:p>
            <a:pPr algn="l">
              <a:spcAft>
                <a:spcPts val="600"/>
              </a:spcAft>
            </a:pPr>
            <a:r>
              <a:rPr sz="1500" b="0">
                <a:solidFill>
                  <a:srgbClr val="162A2E"/>
                </a:solidFill>
                <a:latin typeface="Arial"/>
              </a:rPr>
              <a:t>• Workflow participants: business owners, leads, operators and governance specialists.</a:t>
            </a:r>
          </a:p>
          <a:p>
            <a:pPr algn="l">
              <a:spcAft>
                <a:spcPts val="600"/>
              </a:spcAft>
            </a:pPr>
            <a:r>
              <a:rPr sz="1500" b="0">
                <a:solidFill>
                  <a:srgbClr val="162A2E"/>
                </a:solidFill>
                <a:latin typeface="Arial"/>
              </a:rPr>
              <a:t>• No prevalence, model internals or legal certification.</a:t>
            </a:r>
          </a:p>
        </p:txBody>
      </p:sp>
      <p:sp>
        <p:nvSpPr>
          <p:cNvPr id="10" name="Rectangle 9"/>
          <p:cNvSpPr/>
          <p:nvPr/>
        </p:nvSpPr>
        <p:spPr>
          <a:xfrm>
            <a:off x="435864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64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People and permissions</a:t>
            </a:r>
          </a:p>
        </p:txBody>
      </p:sp>
      <p:sp>
        <p:nvSpPr>
          <p:cNvPr id="12" name="TextBox 11"/>
          <p:cNvSpPr txBox="1"/>
          <p:nvPr/>
        </p:nvSpPr>
        <p:spPr>
          <a:xfrm>
            <a:off x="435864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12–16 interviews/users; 9 experts; separate 3-person reference team.</a:t>
            </a:r>
          </a:p>
          <a:p>
            <a:pPr algn="l">
              <a:spcAft>
                <a:spcPts val="600"/>
              </a:spcAft>
            </a:pPr>
            <a:r>
              <a:rPr sz="1500" b="0">
                <a:solidFill>
                  <a:srgbClr val="162A2E"/>
                </a:solidFill>
                <a:latin typeface="Arial"/>
              </a:rPr>
              <a:t>• Independent evaluators; relevant expertise; commitments unconfirmed.</a:t>
            </a:r>
          </a:p>
          <a:p>
            <a:pPr algn="l">
              <a:spcAft>
                <a:spcPts val="600"/>
              </a:spcAft>
            </a:pPr>
            <a:r>
              <a:rPr sz="1500" b="0">
                <a:solidFill>
                  <a:srgbClr val="162A2E"/>
                </a:solidFill>
                <a:latin typeface="Arial"/>
              </a:rPr>
              <a:t>• IRB first; organisation, participant and record-use permissions separate.</a:t>
            </a:r>
          </a:p>
        </p:txBody>
      </p:sp>
      <p:sp>
        <p:nvSpPr>
          <p:cNvPr id="13" name="Rectangle 12"/>
          <p:cNvSpPr/>
          <p:nvPr/>
        </p:nvSpPr>
        <p:spPr>
          <a:xfrm>
            <a:off x="807720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Limits → mitigations</a:t>
            </a:r>
          </a:p>
        </p:txBody>
      </p:sp>
      <p:sp>
        <p:nvSpPr>
          <p:cNvPr id="15" name="TextBox 14"/>
          <p:cNvSpPr txBox="1"/>
          <p:nvPr/>
        </p:nvSpPr>
        <p:spPr>
          <a:xfrm>
            <a:off x="807720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Small groups → descriptive, contextual conclusions.</a:t>
            </a:r>
          </a:p>
          <a:p>
            <a:pPr algn="l">
              <a:spcAft>
                <a:spcPts val="600"/>
              </a:spcAft>
            </a:pPr>
            <a:r>
              <a:rPr sz="1500" b="0">
                <a:solidFill>
                  <a:srgbClr val="162A2E"/>
                </a:solidFill>
                <a:latin typeface="Arial"/>
              </a:rPr>
              <a:t>• Withheld records → unknown; failed access → reviewed scope change.</a:t>
            </a:r>
          </a:p>
          <a:p>
            <a:pPr algn="l">
              <a:spcAft>
                <a:spcPts val="600"/>
              </a:spcAft>
            </a:pPr>
            <a:r>
              <a:rPr sz="1500" b="0">
                <a:solidFill>
                  <a:srgbClr val="162A2E"/>
                </a:solidFill>
                <a:latin typeface="Arial"/>
              </a:rPr>
              <a:t>• Unread rivals → obtain full texts before fixing novelty.</a:t>
            </a:r>
          </a:p>
        </p:txBody>
      </p:sp>
      <p:sp>
        <p:nvSpPr>
          <p:cNvPr id="16" name="TextBox 15"/>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Proposed groups; access pending; no data yet. Tabassi, 2023; Hevner et al., 2004.</a:t>
            </a:r>
          </a:p>
        </p:txBody>
      </p:sp>
      <p:sp>
        <p:nvSpPr>
          <p:cNvPr id="17" name="TextBox 16"/>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Illustrative — no study results</a:t>
            </a:r>
          </a:p>
        </p:txBody>
      </p:sp>
      <p:sp>
        <p:nvSpPr>
          <p:cNvPr id="5" name="TextBox 4"/>
          <p:cNvSpPr txBox="1"/>
          <p:nvPr/>
        </p:nvSpPr>
        <p:spPr>
          <a:xfrm>
            <a:off x="640080" y="594360"/>
            <a:ext cx="10972800" cy="1188720"/>
          </a:xfrm>
          <a:prstGeom prst="rect">
            <a:avLst/>
          </a:prstGeom>
          <a:noFill/>
        </p:spPr>
        <p:txBody>
          <a:bodyPr wrap="square">
            <a:spAutoFit/>
          </a:bodyPr>
          <a:lstStyle/>
          <a:p>
            <a:pPr algn="l">
              <a:spcAft>
                <a:spcPts val="600"/>
              </a:spcAft>
            </a:pPr>
            <a:r>
              <a:rPr sz="2600" b="1">
                <a:solidFill>
                  <a:srgbClr val="162A2E"/>
                </a:solidFill>
                <a:latin typeface="Arial"/>
              </a:rPr>
              <a:t>A leader inspects evidence, preserves unknowns and chooses an action</a:t>
            </a:r>
          </a:p>
        </p:txBody>
      </p:sp>
      <p:cxnSp>
        <p:nvCxnSpPr>
          <p:cNvPr id="6" name="Connector 5"/>
          <p:cNvCxnSpPr/>
          <p:nvPr/>
        </p:nvCxnSpPr>
        <p:spPr>
          <a:xfrm>
            <a:off x="640080" y="17830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Same illustrative evidence</a:t>
            </a:r>
          </a:p>
        </p:txBody>
      </p:sp>
      <p:sp>
        <p:nvSpPr>
          <p:cNvPr id="9" name="TextBox 8"/>
          <p:cNvSpPr txBox="1"/>
          <p:nvPr/>
        </p:nvSpPr>
        <p:spPr>
          <a:xfrm>
            <a:off x="64008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Enterprise: reliable service; unit: timely resolution under approved rules.</a:t>
            </a:r>
          </a:p>
          <a:p>
            <a:pPr algn="l">
              <a:spcAft>
                <a:spcPts val="600"/>
              </a:spcAft>
            </a:pPr>
            <a:r>
              <a:rPr sz="1500" b="0">
                <a:solidFill>
                  <a:srgbClr val="162A2E"/>
                </a:solidFill>
                <a:latin typeface="Arial"/>
              </a:rPr>
              <a:t>• Mandate: approve exceptions; agent objective: resolve requests.</a:t>
            </a:r>
          </a:p>
          <a:p>
            <a:pPr algn="l">
              <a:spcAft>
                <a:spcPts val="600"/>
              </a:spcAft>
            </a:pPr>
            <a:r>
              <a:rPr sz="1500" b="0">
                <a:solidFill>
                  <a:srgbClr val="162A2E"/>
                </a:solidFill>
                <a:latin typeface="Arial"/>
              </a:rPr>
              <a:t>• Both methods: identical mandate, permission, action and approval records.</a:t>
            </a:r>
          </a:p>
        </p:txBody>
      </p:sp>
      <p:sp>
        <p:nvSpPr>
          <p:cNvPr id="10" name="Rectangle 9"/>
          <p:cNvSpPr/>
          <p:nvPr/>
        </p:nvSpPr>
        <p:spPr>
          <a:xfrm>
            <a:off x="435864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64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Evidence → decision</a:t>
            </a:r>
          </a:p>
        </p:txBody>
      </p:sp>
      <p:sp>
        <p:nvSpPr>
          <p:cNvPr id="12" name="TextBox 11"/>
          <p:cNvSpPr txBox="1"/>
          <p:nvPr/>
        </p:nvSpPr>
        <p:spPr>
          <a:xfrm>
            <a:off x="435864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Documented authorised trade-off → no mismatch on this criterion.</a:t>
            </a:r>
          </a:p>
          <a:p>
            <a:pPr algn="l">
              <a:spcAft>
                <a:spcPts val="600"/>
              </a:spcAft>
            </a:pPr>
            <a:r>
              <a:rPr sz="1500" b="0">
                <a:solidFill>
                  <a:srgbClr val="162A2E"/>
                </a:solidFill>
                <a:latin typeface="Arial"/>
              </a:rPr>
              <a:t>• Approval evidence missing → unknown; request evidence.</a:t>
            </a:r>
          </a:p>
          <a:p>
            <a:pPr algn="l">
              <a:spcAft>
                <a:spcPts val="600"/>
              </a:spcAft>
            </a:pPr>
            <a:r>
              <a:rPr sz="1500" b="0">
                <a:solidFill>
                  <a:srgbClr val="162A2E"/>
                </a:solidFill>
                <a:latin typeface="Arial"/>
              </a:rPr>
              <a:t>• Sufficient evidence of action outside authority → warranted M3 finding.</a:t>
            </a:r>
          </a:p>
        </p:txBody>
      </p:sp>
      <p:sp>
        <p:nvSpPr>
          <p:cNvPr id="13" name="Rectangle 12"/>
          <p:cNvSpPr/>
          <p:nvPr/>
        </p:nvSpPr>
        <p:spPr>
          <a:xfrm>
            <a:off x="8077200" y="20574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0" y="2194560"/>
            <a:ext cx="3444240" cy="457200"/>
          </a:xfrm>
          <a:prstGeom prst="rect">
            <a:avLst/>
          </a:prstGeom>
          <a:noFill/>
        </p:spPr>
        <p:txBody>
          <a:bodyPr wrap="square">
            <a:spAutoFit/>
          </a:bodyPr>
          <a:lstStyle/>
          <a:p>
            <a:pPr algn="l">
              <a:spcAft>
                <a:spcPts val="600"/>
              </a:spcAft>
            </a:pPr>
            <a:r>
              <a:rPr sz="1500" b="1">
                <a:solidFill>
                  <a:srgbClr val="162A2E"/>
                </a:solidFill>
                <a:latin typeface="Arial"/>
              </a:rPr>
              <a:t>Decision → action</a:t>
            </a:r>
          </a:p>
        </p:txBody>
      </p:sp>
      <p:sp>
        <p:nvSpPr>
          <p:cNvPr id="15" name="TextBox 14"/>
          <p:cNvSpPr txBox="1"/>
          <p:nvPr/>
        </p:nvSpPr>
        <p:spPr>
          <a:xfrm>
            <a:off x="8077200" y="2697480"/>
            <a:ext cx="3444240" cy="3840480"/>
          </a:xfrm>
          <a:prstGeom prst="rect">
            <a:avLst/>
          </a:prstGeom>
          <a:noFill/>
        </p:spPr>
        <p:txBody>
          <a:bodyPr wrap="square">
            <a:spAutoFit/>
          </a:bodyPr>
          <a:lstStyle/>
          <a:p>
            <a:pPr algn="l">
              <a:spcAft>
                <a:spcPts val="600"/>
              </a:spcAft>
            </a:pPr>
            <a:r>
              <a:rPr sz="1500" b="0">
                <a:solidFill>
                  <a:srgbClr val="162A2E"/>
                </a:solidFill>
                <a:latin typeface="Arial"/>
              </a:rPr>
              <a:t>• M3: record evidence and escalate; preserve disputed interpretations.</a:t>
            </a:r>
          </a:p>
          <a:p>
            <a:pPr algn="l">
              <a:spcAft>
                <a:spcPts val="600"/>
              </a:spcAft>
            </a:pPr>
            <a:r>
              <a:rPr sz="1500" b="0">
                <a:solidFill>
                  <a:srgbClr val="162A2E"/>
                </a:solidFill>
                <a:latin typeface="Arial"/>
              </a:rPr>
              <a:t>• M4: identify who can monitor and remedy.</a:t>
            </a:r>
          </a:p>
          <a:p>
            <a:pPr algn="l">
              <a:spcAft>
                <a:spcPts val="600"/>
              </a:spcAft>
            </a:pPr>
            <a:r>
              <a:rPr sz="1500" b="0">
                <a:solidFill>
                  <a:srgbClr val="162A2E"/>
                </a:solidFill>
                <a:latin typeface="Arial"/>
              </a:rPr>
              <a:t>• Existing review may agree; no incremental benefit established.</a:t>
            </a:r>
          </a:p>
        </p:txBody>
      </p:sp>
      <p:sp>
        <p:nvSpPr>
          <p:cNvPr id="16" name="TextBox 15"/>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Illustrative — no study results. Baird &amp; Maruping, 2021; Santoni de Sio &amp; Mecacci, 2021.</a:t>
            </a:r>
          </a:p>
        </p:txBody>
      </p:sp>
      <p:sp>
        <p:nvSpPr>
          <p:cNvPr id="17" name="TextBox 16"/>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9875520" cy="365760"/>
          </a:xfrm>
          <a:prstGeom prst="rect">
            <a:avLst/>
          </a:prstGeom>
          <a:noFill/>
        </p:spPr>
        <p:txBody>
          <a:bodyPr wrap="square">
            <a:spAutoFit/>
          </a:bodyPr>
          <a:lstStyle/>
          <a:p>
            <a:pPr algn="l">
              <a:spcAft>
                <a:spcPts val="600"/>
              </a:spcAft>
            </a:pPr>
            <a:r>
              <a:rPr sz="1200" b="1">
                <a:solidFill>
                  <a:srgbClr val="A66A16"/>
                </a:solidFill>
                <a:latin typeface="Arial"/>
              </a:rPr>
              <a:t>Proposed contribution · feedback sought</a:t>
            </a:r>
          </a:p>
        </p:txBody>
      </p:sp>
      <p:sp>
        <p:nvSpPr>
          <p:cNvPr id="5" name="TextBox 4"/>
          <p:cNvSpPr txBox="1"/>
          <p:nvPr/>
        </p:nvSpPr>
        <p:spPr>
          <a:xfrm>
            <a:off x="640080" y="594360"/>
            <a:ext cx="10972800" cy="731520"/>
          </a:xfrm>
          <a:prstGeom prst="rect">
            <a:avLst/>
          </a:prstGeom>
          <a:noFill/>
        </p:spPr>
        <p:txBody>
          <a:bodyPr wrap="square">
            <a:spAutoFit/>
          </a:bodyPr>
          <a:lstStyle/>
          <a:p>
            <a:pPr algn="l">
              <a:spcAft>
                <a:spcPts val="600"/>
              </a:spcAft>
            </a:pPr>
            <a:r>
              <a:rPr sz="2600" b="1">
                <a:solidFill>
                  <a:srgbClr val="162A2E"/>
                </a:solidFill>
                <a:latin typeface="Arial"/>
              </a:rPr>
              <a:t>A proposed instrument and conditional design knowledge</a:t>
            </a:r>
          </a:p>
        </p:txBody>
      </p:sp>
      <p:cxnSp>
        <p:nvCxnSpPr>
          <p:cNvPr id="6" name="Connector 5"/>
          <p:cNvCxnSpPr/>
          <p:nvPr/>
        </p:nvCxnSpPr>
        <p:spPr>
          <a:xfrm>
            <a:off x="640080" y="1325880"/>
            <a:ext cx="10881360" cy="0"/>
          </a:xfrm>
          <a:prstGeom prst="line">
            <a:avLst/>
          </a:prstGeom>
          <a:ln w="12700">
            <a:solidFill>
              <a:srgbClr val="D5DDD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16002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37360"/>
            <a:ext cx="3444240" cy="457200"/>
          </a:xfrm>
          <a:prstGeom prst="rect">
            <a:avLst/>
          </a:prstGeom>
          <a:noFill/>
        </p:spPr>
        <p:txBody>
          <a:bodyPr wrap="square">
            <a:spAutoFit/>
          </a:bodyPr>
          <a:lstStyle/>
          <a:p>
            <a:pPr algn="l">
              <a:spcAft>
                <a:spcPts val="600"/>
              </a:spcAft>
            </a:pPr>
            <a:r>
              <a:rPr sz="1500" b="1">
                <a:solidFill>
                  <a:srgbClr val="162A2E"/>
                </a:solidFill>
                <a:latin typeface="Arial"/>
              </a:rPr>
              <a:t>Practice</a:t>
            </a:r>
          </a:p>
        </p:txBody>
      </p:sp>
      <p:sp>
        <p:nvSpPr>
          <p:cNvPr id="9" name="TextBox 8"/>
          <p:cNvSpPr txBox="1"/>
          <p:nvPr/>
        </p:nvSpPr>
        <p:spPr>
          <a:xfrm>
            <a:off x="640080" y="2240280"/>
            <a:ext cx="3444240" cy="3840480"/>
          </a:xfrm>
          <a:prstGeom prst="rect">
            <a:avLst/>
          </a:prstGeom>
          <a:noFill/>
        </p:spPr>
        <p:txBody>
          <a:bodyPr wrap="square">
            <a:spAutoFit/>
          </a:bodyPr>
          <a:lstStyle/>
          <a:p>
            <a:pPr algn="l">
              <a:spcAft>
                <a:spcPts val="600"/>
              </a:spcAft>
            </a:pPr>
            <a:r>
              <a:rPr sz="1500" b="0">
                <a:solidFill>
                  <a:srgbClr val="162A2E"/>
                </a:solidFill>
                <a:latin typeface="Arial"/>
              </a:rPr>
              <a:t>• Hybrid Alignment Diagnostic: instrument, evidence register, interpretation guide.</a:t>
            </a:r>
          </a:p>
          <a:p>
            <a:pPr algn="l">
              <a:spcAft>
                <a:spcPts val="600"/>
              </a:spcAft>
            </a:pPr>
            <a:r>
              <a:rPr sz="1500" b="0">
                <a:solidFill>
                  <a:srgbClr val="162A2E"/>
                </a:solidFill>
                <a:latin typeface="Arial"/>
              </a:rPr>
              <a:t>• Managers inspect warranted findings and choose responsible next steps.</a:t>
            </a:r>
          </a:p>
        </p:txBody>
      </p:sp>
      <p:sp>
        <p:nvSpPr>
          <p:cNvPr id="10" name="Rectangle 9"/>
          <p:cNvSpPr/>
          <p:nvPr/>
        </p:nvSpPr>
        <p:spPr>
          <a:xfrm>
            <a:off x="4358640" y="16002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640" y="1737360"/>
            <a:ext cx="3444240" cy="457200"/>
          </a:xfrm>
          <a:prstGeom prst="rect">
            <a:avLst/>
          </a:prstGeom>
          <a:noFill/>
        </p:spPr>
        <p:txBody>
          <a:bodyPr wrap="square">
            <a:spAutoFit/>
          </a:bodyPr>
          <a:lstStyle/>
          <a:p>
            <a:pPr algn="l">
              <a:spcAft>
                <a:spcPts val="600"/>
              </a:spcAft>
            </a:pPr>
            <a:r>
              <a:rPr sz="1500" b="1">
                <a:solidFill>
                  <a:srgbClr val="162A2E"/>
                </a:solidFill>
                <a:latin typeface="Arial"/>
              </a:rPr>
              <a:t>Knowledge</a:t>
            </a:r>
          </a:p>
        </p:txBody>
      </p:sp>
      <p:sp>
        <p:nvSpPr>
          <p:cNvPr id="12" name="TextBox 11"/>
          <p:cNvSpPr txBox="1"/>
          <p:nvPr/>
        </p:nvSpPr>
        <p:spPr>
          <a:xfrm>
            <a:off x="4358640" y="2240280"/>
            <a:ext cx="3444240" cy="3840480"/>
          </a:xfrm>
          <a:prstGeom prst="rect">
            <a:avLst/>
          </a:prstGeom>
          <a:noFill/>
        </p:spPr>
        <p:txBody>
          <a:bodyPr wrap="square">
            <a:spAutoFit/>
          </a:bodyPr>
          <a:lstStyle/>
          <a:p>
            <a:pPr algn="l">
              <a:spcAft>
                <a:spcPts val="600"/>
              </a:spcAft>
            </a:pPr>
            <a:r>
              <a:rPr sz="1500" b="0">
                <a:solidFill>
                  <a:srgbClr val="162A2E"/>
                </a:solidFill>
                <a:latin typeface="Arial"/>
              </a:rPr>
              <a:t>• Conditional design principles; successful and failed tests.</a:t>
            </a:r>
          </a:p>
          <a:p>
            <a:pPr algn="l">
              <a:spcAft>
                <a:spcPts val="600"/>
              </a:spcAft>
            </a:pPr>
            <a:r>
              <a:rPr sz="1500" b="0">
                <a:solidFill>
                  <a:srgbClr val="162A2E"/>
                </a:solidFill>
                <a:latin typeface="Arial"/>
              </a:rPr>
              <a:t>• No evaluation results yet; transfer requires another bounded test.</a:t>
            </a:r>
          </a:p>
        </p:txBody>
      </p:sp>
      <p:sp>
        <p:nvSpPr>
          <p:cNvPr id="13" name="Rectangle 12"/>
          <p:cNvSpPr/>
          <p:nvPr/>
        </p:nvSpPr>
        <p:spPr>
          <a:xfrm>
            <a:off x="8077200" y="1600200"/>
            <a:ext cx="3444240" cy="73152"/>
          </a:xfrm>
          <a:prstGeom prst="rect">
            <a:avLst/>
          </a:prstGeom>
          <a:solidFill>
            <a:srgbClr val="A66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77200" y="1737360"/>
            <a:ext cx="3444240" cy="457200"/>
          </a:xfrm>
          <a:prstGeom prst="rect">
            <a:avLst/>
          </a:prstGeom>
          <a:noFill/>
        </p:spPr>
        <p:txBody>
          <a:bodyPr wrap="square">
            <a:spAutoFit/>
          </a:bodyPr>
          <a:lstStyle/>
          <a:p>
            <a:pPr algn="l">
              <a:spcAft>
                <a:spcPts val="600"/>
              </a:spcAft>
            </a:pPr>
            <a:r>
              <a:rPr sz="1500" b="1">
                <a:solidFill>
                  <a:srgbClr val="162A2E"/>
                </a:solidFill>
                <a:latin typeface="Arial"/>
              </a:rPr>
              <a:t>Questions for the panel</a:t>
            </a:r>
          </a:p>
        </p:txBody>
      </p:sp>
      <p:sp>
        <p:nvSpPr>
          <p:cNvPr id="15" name="TextBox 14"/>
          <p:cNvSpPr txBox="1"/>
          <p:nvPr/>
        </p:nvSpPr>
        <p:spPr>
          <a:xfrm>
            <a:off x="8077200" y="2240280"/>
            <a:ext cx="3444240" cy="3840480"/>
          </a:xfrm>
          <a:prstGeom prst="rect">
            <a:avLst/>
          </a:prstGeom>
          <a:noFill/>
        </p:spPr>
        <p:txBody>
          <a:bodyPr wrap="square">
            <a:spAutoFit/>
          </a:bodyPr>
          <a:lstStyle/>
          <a:p>
            <a:pPr algn="l">
              <a:spcAft>
                <a:spcPts val="600"/>
              </a:spcAft>
            </a:pPr>
            <a:r>
              <a:rPr sz="1500" b="0">
                <a:solidFill>
                  <a:srgbClr val="162A2E"/>
                </a:solidFill>
                <a:latin typeface="Arial"/>
              </a:rPr>
              <a:t>• Is this bounded comparative DSR scope appropriate?</a:t>
            </a:r>
          </a:p>
          <a:p>
            <a:pPr algn="l">
              <a:spcAft>
                <a:spcPts val="600"/>
              </a:spcAft>
            </a:pPr>
            <a:r>
              <a:rPr sz="1500" b="0">
                <a:solidFill>
                  <a:srgbClr val="162A2E"/>
                </a:solidFill>
                <a:latin typeface="Arial"/>
              </a:rPr>
              <a:t>• What evidence and error costs justify the proposed thresholds?</a:t>
            </a:r>
          </a:p>
        </p:txBody>
      </p:sp>
      <p:sp>
        <p:nvSpPr>
          <p:cNvPr id="16" name="TextBox 15"/>
          <p:cNvSpPr txBox="1"/>
          <p:nvPr/>
        </p:nvSpPr>
        <p:spPr>
          <a:xfrm>
            <a:off x="640080" y="5989320"/>
            <a:ext cx="10058400" cy="457200"/>
          </a:xfrm>
          <a:prstGeom prst="rect">
            <a:avLst/>
          </a:prstGeom>
          <a:noFill/>
        </p:spPr>
        <p:txBody>
          <a:bodyPr wrap="square">
            <a:spAutoFit/>
          </a:bodyPr>
          <a:lstStyle/>
          <a:p>
            <a:pPr algn="l">
              <a:spcAft>
                <a:spcPts val="600"/>
              </a:spcAft>
            </a:pPr>
            <a:r>
              <a:rPr sz="1100" b="0">
                <a:solidFill>
                  <a:srgbClr val="5B6B6C"/>
                </a:solidFill>
                <a:latin typeface="Arial"/>
              </a:rPr>
              <a:t>Proposed outputs, not achieved benefits. Hevner et al., 2004; Peffers et al., 2007; Venable et al., 2016.</a:t>
            </a:r>
          </a:p>
        </p:txBody>
      </p:sp>
      <p:sp>
        <p:nvSpPr>
          <p:cNvPr id="17" name="TextBox 16"/>
          <p:cNvSpPr txBox="1"/>
          <p:nvPr/>
        </p:nvSpPr>
        <p:spPr>
          <a:xfrm>
            <a:off x="10881360" y="6355080"/>
            <a:ext cx="1097280" cy="365760"/>
          </a:xfrm>
          <a:prstGeom prst="rect">
            <a:avLst/>
          </a:prstGeom>
          <a:noFill/>
        </p:spPr>
        <p:txBody>
          <a:bodyPr wrap="square">
            <a:spAutoFit/>
          </a:bodyPr>
          <a:lstStyle/>
          <a:p>
            <a:pPr algn="r">
              <a:spcAft>
                <a:spcPts val="600"/>
              </a:spcAft>
            </a:pPr>
            <a:r>
              <a:rPr sz="1000" b="0">
                <a:solidFill>
                  <a:srgbClr val="5B6B6C"/>
                </a:solidFill>
                <a:latin typeface="Arial"/>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